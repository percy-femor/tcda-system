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70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977639"/>
            <a:ext cx="12191695" cy="45720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C8963E"/>
                </a:solidFill>
                <a:latin typeface="Segoe UI"/>
              </a:rPr>
              <a:t>TREE CROPS DEVELOPMENT AUTHORITY  ·  GHANA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106070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200" b="1" i="0">
                <a:solidFill>
                  <a:srgbClr val="FFFFFF"/>
                </a:solidFill>
                <a:latin typeface="Segoe UI"/>
              </a:rPr>
              <a:t>TCDA Traceability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5200" b="1" i="0">
                <a:solidFill>
                  <a:srgbClr val="E2C48A"/>
                </a:solidFill>
                <a:latin typeface="Segoe UI"/>
              </a:rPr>
              <a:t>Registry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06240"/>
            <a:ext cx="106070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FFFFFF"/>
                </a:solidFill>
                <a:latin typeface="Segoe UI"/>
              </a:rPr>
              <a:t>Farm-to-export chain of custody for palm and cashew</a:t>
            </a:r>
          </a:p>
          <a:p>
            <a:pPr algn="l">
              <a:lnSpc>
                <a:spcPct val="110000"/>
              </a:lnSpc>
              <a:spcBef>
                <a:spcPts val="800"/>
              </a:spcBef>
              <a:spcAft>
                <a:spcPts val="600"/>
              </a:spcAft>
            </a:pPr>
            <a:r>
              <a:rPr sz="1500" b="0" i="0">
                <a:solidFill>
                  <a:srgbClr val="E2C48A"/>
                </a:solidFill>
                <a:latin typeface="Segoe UI"/>
              </a:rPr>
              <a:t>Complete system overview · every desk and page · offline field app · how to run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806440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C8963E"/>
                </a:solidFill>
                <a:latin typeface="Segoe UI"/>
              </a:rPr>
              <a:t>Laravel 12  ·  PHP 8.2  ·  MySQL  ·  Blade + PWA  ·  Offline-first sync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0" cy="5486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C8963E"/>
                </a:solidFill>
                <a:latin typeface="Segoe U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0F3D2E"/>
                </a:solidFill>
                <a:latin typeface="Segoe UI"/>
              </a:rPr>
              <a:t>What this deck covers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16736"/>
            <a:ext cx="11155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166534"/>
                </a:solidFill>
                <a:latin typeface="Segoe UI"/>
              </a:rPr>
              <a:t>A single walk-through of the system exactly as it stands today.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19656"/>
            <a:ext cx="11155680" cy="4626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Why the system exists, who uses it, and the two value chains it serves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The five role-scoped web desks plus the offline field app (PWA)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Every dashboard and page, desk by desk, with what each one does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The traceability lifecycle, the compliance engine, and the custody log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Roles, regions, and how access is enforced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The JSON API and the offline store-and-forward sync engine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How to install, seed, run, and test the project locally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Tech stack, design principles, and important notes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677"/>
                </a:solidFill>
                <a:latin typeface="Segoe UI"/>
              </a:rPr>
              <a:t>TCDA Traceability Registry  ·  System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19088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0F3D2E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0" cy="5486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 dirty="0">
                <a:solidFill>
                  <a:srgbClr val="C8963E"/>
                </a:solidFill>
                <a:latin typeface="Segoe UI"/>
              </a:rPr>
              <a:t>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0F3D2E"/>
                </a:solidFill>
                <a:latin typeface="Segoe UI"/>
              </a:rPr>
              <a:t>Why this system exists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16736"/>
            <a:ext cx="11155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166534"/>
                </a:solidFill>
                <a:latin typeface="Segoe UI"/>
              </a:rPr>
              <a:t>Turning paper stubs at the buying point into an auditable, farm-level chain of custody.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19656"/>
            <a:ext cx="11155680" cy="4626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Ghana exports palm and cashew; buyers and regulators increasingly demand proof of origin and due diligence.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Palm exports require EUDR-style geolocation of the farm land; cashew needs environmental &amp; social due diligence.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Paper cards and buying-point stubs cannot be reliably traced back to a specific farm or plot.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TCDA supervises a national registry spanning all 16 official regions of Ghana.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The goal: one registry where field enrolment, buying-point deliveries, mill intake and export packing form one traceable, honest record.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Design stance: gaps are surfaced and printed, never papered over — a clean-looking record that hides gaps is worse than none.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677"/>
                </a:solidFill>
                <a:latin typeface="Segoe UI"/>
              </a:rPr>
              <a:t>TCDA Traceability Registry  ·  System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19088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0F3D2E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0" cy="5486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4688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C8963E"/>
                </a:solidFill>
                <a:latin typeface="Segoe UI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0F3D2E"/>
                </a:solidFill>
                <a:latin typeface="Segoe UI"/>
              </a:rPr>
              <a:t>The system at a glance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16736"/>
            <a:ext cx="11155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166534"/>
                </a:solidFill>
                <a:latin typeface="Segoe UI"/>
              </a:rPr>
              <a:t>One registry, two front ends, five desks, two chains.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19656"/>
            <a:ext cx="11155680" cy="4626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One Laravel 12 web application — the server of record for farmers, plots, batches and custody.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Two front ends: role-scoped web “desks” and an installable, offline-first field app (PWA).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Five roles / desks: TCDA (national command), Field officer, Aggregator, Mill, Exporter.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Two value chains: palm (EUDR geolocation rules) and cashew (E&amp;S due-diligence rules).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Strict regional scoping across Ghana’s 16 official regions.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An append-only custody log records every step with its actor and timestamp.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A compliance engine that produces a ready/gaps assessment per lot — and keeps gaps visible.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677"/>
                </a:solidFill>
                <a:latin typeface="Segoe UI"/>
              </a:rPr>
              <a:t>TCDA Traceability Registry  ·  System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19088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0F3D2E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0" cy="5486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2402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C8963E"/>
                </a:solidFill>
                <a:latin typeface="Segoe U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0F3D2E"/>
                </a:solidFill>
                <a:latin typeface="Segoe UI"/>
              </a:rPr>
              <a:t>Two front ends, one registry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16736"/>
            <a:ext cx="11155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166534"/>
                </a:solidFill>
                <a:latin typeface="Segoe UI"/>
              </a:rPr>
              <a:t>Each audience gets the surface that fits how they work.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19656"/>
            <a:ext cx="11155680" cy="4626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Desk web app (resources/views) — session login, one page per role: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5B6677"/>
                </a:solidFill>
                <a:latin typeface="Segoe UI"/>
              </a:rPr>
              <a:t>       –  /tcda  ·  /officer  ·  /buying  ·  /mill  ·  /export  (plus shared /farmers, /batches pages)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Field app / PWA (public/field-*) — installable to a phone home screen or desktop: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5B6677"/>
                </a:solidFill>
                <a:latin typeface="Segoe UI"/>
              </a:rPr>
              <a:t>       –  Captures enrolment, plot geofences and batches with no signal; syncs when back online.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Both write to the same database through the same services: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5B6677"/>
                </a:solidFill>
                <a:latin typeface="Segoe UI"/>
              </a:rPr>
              <a:t>       –  ComplianceEngine, CustodyLogger, CodeGenerator, SyncService.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Both enforce the same region and role rules server-side.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677"/>
                </a:solidFill>
                <a:latin typeface="Segoe UI"/>
              </a:rPr>
              <a:t>TCDA Traceability Registry  ·  System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19088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0F3D2E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0" cy="5486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37744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C8963E"/>
                </a:solidFill>
                <a:latin typeface="Segoe UI"/>
              </a:rPr>
              <a:t>ROLES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0F3D2E"/>
                </a:solidFill>
                <a:latin typeface="Segoe UI"/>
              </a:rPr>
              <a:t>The five desks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11155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166534"/>
                </a:solidFill>
                <a:latin typeface="Segoe UI"/>
              </a:rPr>
              <a:t>Each role is a different page; officers, mills and exporters do not share a workspace.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810512"/>
          <a:ext cx="11183111" cy="2249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03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67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438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722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Desk</a:t>
                      </a:r>
                    </a:p>
                  </a:txBody>
                  <a:tcPr marL="82296" marR="54864" marT="27432" marB="27432" anchor="ctr">
                    <a:solidFill>
                      <a:srgbClr val="0F3D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Who signs in</a:t>
                      </a:r>
                    </a:p>
                  </a:txBody>
                  <a:tcPr marL="82296" marR="54864" marT="27432" marB="27432" anchor="ctr">
                    <a:solidFill>
                      <a:srgbClr val="0F3D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What they do</a:t>
                      </a:r>
                    </a:p>
                  </a:txBody>
                  <a:tcPr marL="82296" marR="54864" marT="27432" marB="27432" anchor="ctr">
                    <a:solidFill>
                      <a:srgbClr val="0F3D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Home route</a:t>
                      </a:r>
                    </a:p>
                  </a:txBody>
                  <a:tcPr marL="82296" marR="54864" marT="27432" marB="27432" anchor="ctr">
                    <a:solidFill>
                      <a:srgbClr val="0F3D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2937"/>
                          </a:solidFill>
                          <a:latin typeface="Segoe UI"/>
                        </a:rPr>
                        <a:t>National command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Segoe UI"/>
                        </a:rPr>
                        <a:t>TCDA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Segoe UI"/>
                        </a:rPr>
                        <a:t>Supervise the registry, manage officers, watch data-quality gaps across all 16 regions.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Segoe UI"/>
                        </a:rPr>
                        <a:t>/tcda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2937"/>
                          </a:solidFill>
                          <a:latin typeface="Segoe UI"/>
                        </a:rPr>
                        <a:t>Field desk</a:t>
                      </a:r>
                    </a:p>
                  </a:txBody>
                  <a:tcPr marL="82296" marR="54864" marT="27432" marB="27432" anchor="ctr">
                    <a:solidFill>
                      <a:srgbClr val="EAF0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Segoe UI"/>
                        </a:rPr>
                        <a:t>Field officer</a:t>
                      </a:r>
                    </a:p>
                  </a:txBody>
                  <a:tcPr marL="82296" marR="54864" marT="27432" marB="27432" anchor="ctr">
                    <a:solidFill>
                      <a:srgbClr val="EAF0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Segoe UI"/>
                        </a:rPr>
                        <a:t>Enrol farmers and draw farm-land geofences — in their assigned region only.</a:t>
                      </a:r>
                    </a:p>
                  </a:txBody>
                  <a:tcPr marL="82296" marR="54864" marT="27432" marB="27432" anchor="ctr">
                    <a:solidFill>
                      <a:srgbClr val="EAF0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Segoe UI"/>
                        </a:rPr>
                        <a:t>/officer</a:t>
                      </a:r>
                    </a:p>
                  </a:txBody>
                  <a:tcPr marL="82296" marR="54864" marT="27432" marB="27432" anchor="ctr">
                    <a:solidFill>
                      <a:srgbClr val="EAF0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2937"/>
                          </a:solidFill>
                          <a:latin typeface="Segoe UI"/>
                        </a:rPr>
                        <a:t>Buying-point floor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Segoe UI"/>
                        </a:rPr>
                        <a:t>Aggregator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Segoe UI"/>
                        </a:rPr>
                        <a:t>Open a farm-set, record kg per farmer, then close it for the mill.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Segoe UI"/>
                        </a:rPr>
                        <a:t>/buying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2937"/>
                          </a:solidFill>
                          <a:latin typeface="Segoe UI"/>
                        </a:rPr>
                        <a:t>Weighbridge</a:t>
                      </a:r>
                    </a:p>
                  </a:txBody>
                  <a:tcPr marL="82296" marR="54864" marT="27432" marB="27432" anchor="ctr">
                    <a:solidFill>
                      <a:srgbClr val="EAF0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Segoe UI"/>
                        </a:rPr>
                        <a:t>Mill / processor</a:t>
                      </a:r>
                    </a:p>
                  </a:txBody>
                  <a:tcPr marL="82296" marR="54864" marT="27432" marB="27432" anchor="ctr">
                    <a:solidFill>
                      <a:srgbClr val="EAF0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Segoe UI"/>
                        </a:rPr>
                        <a:t>Stamp weighbridge kg for closed farm-sets. Does not enrol farmers.</a:t>
                      </a:r>
                    </a:p>
                  </a:txBody>
                  <a:tcPr marL="82296" marR="54864" marT="27432" marB="27432" anchor="ctr">
                    <a:solidFill>
                      <a:srgbClr val="EAF0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Segoe UI"/>
                        </a:rPr>
                        <a:t>/mill</a:t>
                      </a:r>
                    </a:p>
                  </a:txBody>
                  <a:tcPr marL="82296" marR="54864" marT="27432" marB="27432" anchor="ctr">
                    <a:solidFill>
                      <a:srgbClr val="EAF0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2937"/>
                          </a:solidFill>
                          <a:latin typeface="Segoe UI"/>
                        </a:rPr>
                        <a:t>Buyer packs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Segoe UI"/>
                        </a:rPr>
                        <a:t>Exporter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Segoe UI"/>
                        </a:rPr>
                        <a:t>Pack buyer due-diligence files and link bills of lading.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Segoe UI"/>
                        </a:rPr>
                        <a:t>/export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677"/>
                </a:solidFill>
                <a:latin typeface="Segoe UI"/>
              </a:rPr>
              <a:t>TCDA Traceability Registry  ·  System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19088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0F3D2E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0" cy="5486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C8963E"/>
                </a:solidFill>
                <a:latin typeface="Segoe UI"/>
              </a:rPr>
              <a:t>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0F3D2E"/>
                </a:solidFill>
                <a:latin typeface="Segoe UI"/>
              </a:rPr>
              <a:t>What the system stores (data model)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16736"/>
            <a:ext cx="11155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166534"/>
                </a:solidFill>
                <a:latin typeface="Segoe UI"/>
              </a:rPr>
              <a:t>Nine core tables plus two sync-support tables.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19656"/>
            <a:ext cx="11155680" cy="4626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Organization — regulator, aggregator, mill or exporter (chain, region, district).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User — role, assigned region, and the organization they belong to.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Farmer — public ID (FRM-), identity, community/district/region, chain, consent timestamp.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Plot — farm-land geofence: polygon GeoJSON, centroid lat/lng, area (ha), land status.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Batch (“farm-set”) — status open → closed → mill_received → exported; aggregator, mill, exporter, mill weight.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BatchMember — one delivery: farmer, plot, volume kg, paper stub no., capture channel.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CustodyEvent — append-only timeline of opened, delivery_added, closed, mill_intake, export_packed.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ComplianceAssessment — per batch: status ready/gaps plus the list of gaps.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Sync support: DeviceToken (hashed) and SyncOperation (idempotency + audit).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677"/>
                </a:solidFill>
                <a:latin typeface="Segoe UI"/>
              </a:rPr>
              <a:t>TCDA Traceability Registry  ·  System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19088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0F3D2E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0" cy="5486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4688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C8963E"/>
                </a:solidFill>
                <a:latin typeface="Segoe UI"/>
              </a:rPr>
              <a:t>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0F3D2E"/>
                </a:solidFill>
                <a:latin typeface="Segoe UI"/>
              </a:rPr>
              <a:t>The traceability lifecycle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16736"/>
            <a:ext cx="11155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166534"/>
                </a:solidFill>
                <a:latin typeface="Segoe UI"/>
              </a:rPr>
              <a:t>Five desks hand a lot down the chain; every step writes a custody event.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19656"/>
            <a:ext cx="11155680" cy="4626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1 · Field officer enrols a farmer and draws the plot geofence (palm or cashew).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2 · Aggregator opens a farm-set at the buying point and records each delivery (kg).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3 · Aggregator closes the farm-set → a compliance assessment is persisted (gaps recorded).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4 · Mill records weighbridge intake kg → status becomes mill_received.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5B6677"/>
                </a:solidFill>
                <a:latin typeface="Segoe UI"/>
              </a:rPr>
              <a:t>       –  The farm-set is not rewritten; mixing at the mill is expected and kept visible.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5 · Exporter opens the due-diligence pack and links a bill of lading → exported.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Batch status ladder:  open  →  closed  →  mill_received  →  exported.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Closed farm-sets cannot accept new deliveries; already-closed batches cannot be re-closed.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677"/>
                </a:solidFill>
                <a:latin typeface="Segoe UI"/>
              </a:rPr>
              <a:t>TCDA Traceability Registry  ·  System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19088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0F3D2E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0" cy="5486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30075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C8963E"/>
                </a:solidFill>
                <a:latin typeface="Segoe UI"/>
              </a:rPr>
              <a:t>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0F3D2E"/>
                </a:solidFill>
                <a:latin typeface="Segoe UI"/>
              </a:rPr>
              <a:t>The compliance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16736"/>
            <a:ext cx="11155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166534"/>
                </a:solidFill>
                <a:latin typeface="Segoe UI"/>
              </a:rPr>
              <a:t>app/Services/ComplianceEngine.php — one place that decides ready vs gaps.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19656"/>
            <a:ext cx="11155680" cy="4626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Palm (EUDR): every member needs consent, geolocation (point or polygon) and a known land status.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Cashew: consent is required; mapping is recommended and listed as a gap when missing.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Result is a status (“ready” or “gaps”) plus a human-readable list of the specific gaps.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Gaps are never auto-filled and never hidden — they stay on the batch and in the buyer pack.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Assessment runs when a batch is closed, on mill intake, and whenever a batch/DDS page is opened.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5B6677"/>
                </a:solidFill>
                <a:latin typeface="Segoe UI"/>
              </a:rPr>
              <a:t>       –  The persisted ComplianceAssessment is what the dashboards and exception views read.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677"/>
                </a:solidFill>
                <a:latin typeface="Segoe UI"/>
              </a:rPr>
              <a:t>TCDA Traceability Registry  ·  System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19088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0F3D2E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0" cy="5486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30763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 dirty="0">
                <a:solidFill>
                  <a:srgbClr val="C8963E"/>
                </a:solidFill>
                <a:latin typeface="Segoe UI"/>
              </a:rPr>
              <a:t>ACCESS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0F3D2E"/>
                </a:solidFill>
                <a:latin typeface="Segoe UI"/>
              </a:rPr>
              <a:t>Roles and region access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16736"/>
            <a:ext cx="11155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166534"/>
                </a:solidFill>
                <a:latin typeface="Segoe UI"/>
              </a:rPr>
              <a:t>Region is a hard boundary, not a soft filter.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19656"/>
            <a:ext cx="11155680" cy="4626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TCDA — sees all 16 regions; assigns officers; does not stand at a buying point, weighbridge or export desk.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Field officer — locked to one assigned region; can only enrol and update farmers in that region.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Aggregator — scoped to its organization and region; opens and closes farm-sets.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Mill — records intake for closed farm-sets; cannot enrol farmers.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Exporter — packs due-diligence files; cannot enrol farmers or run the weighbridge.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Enforced by role middleware (role:...) on routes plus region guards on queries and writes.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5B6677"/>
                </a:solidFill>
                <a:latin typeface="Segoe UI"/>
              </a:rPr>
              <a:t>       –  visibleTo() scopes farmer queries; canAccessRegion() blocks out-of-region reads and writes.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677"/>
                </a:solidFill>
                <a:latin typeface="Segoe UI"/>
              </a:rPr>
              <a:t>TCDA Traceability Registry  ·  System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19088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0F3D2E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0" cy="5486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82874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C8963E"/>
                </a:solidFill>
                <a:latin typeface="Segoe UI"/>
              </a:rPr>
              <a:t>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0F3D2E"/>
                </a:solidFill>
                <a:latin typeface="Segoe UI"/>
              </a:rPr>
              <a:t>Permissions by role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11155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166534"/>
                </a:solidFill>
                <a:latin typeface="Segoe UI"/>
              </a:rPr>
              <a:t>What each role is allowed to do. Enforced server-side on every request.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810512"/>
          <a:ext cx="1118311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823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37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37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456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728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547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Capability</a:t>
                      </a:r>
                    </a:p>
                  </a:txBody>
                  <a:tcPr marL="82296" marR="54864" marT="27432" marB="27432" anchor="ctr">
                    <a:solidFill>
                      <a:srgbClr val="0F3D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TCDA</a:t>
                      </a:r>
                    </a:p>
                  </a:txBody>
                  <a:tcPr marL="82296" marR="54864" marT="27432" marB="27432" anchor="ctr">
                    <a:solidFill>
                      <a:srgbClr val="0F3D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Officer</a:t>
                      </a:r>
                    </a:p>
                  </a:txBody>
                  <a:tcPr marL="82296" marR="54864" marT="27432" marB="27432" anchor="ctr">
                    <a:solidFill>
                      <a:srgbClr val="0F3D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Aggregator</a:t>
                      </a:r>
                    </a:p>
                  </a:txBody>
                  <a:tcPr marL="82296" marR="54864" marT="27432" marB="27432" anchor="ctr">
                    <a:solidFill>
                      <a:srgbClr val="0F3D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Mill</a:t>
                      </a:r>
                    </a:p>
                  </a:txBody>
                  <a:tcPr marL="82296" marR="54864" marT="27432" marB="27432" anchor="ctr">
                    <a:solidFill>
                      <a:srgbClr val="0F3D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Exporter</a:t>
                      </a:r>
                    </a:p>
                  </a:txBody>
                  <a:tcPr marL="82296" marR="54864" marT="27432" marB="27432" anchor="ctr">
                    <a:solidFill>
                      <a:srgbClr val="0F3D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F2937"/>
                          </a:solidFill>
                          <a:latin typeface="Segoe UI"/>
                        </a:rPr>
                        <a:t>Enrol farmers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66534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66534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66534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B03030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B03030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F2937"/>
                          </a:solidFill>
                          <a:latin typeface="Segoe UI"/>
                        </a:rPr>
                        <a:t>Map / add plots</a:t>
                      </a:r>
                    </a:p>
                  </a:txBody>
                  <a:tcPr marL="82296" marR="54864" marT="27432" marB="27432" anchor="ctr">
                    <a:solidFill>
                      <a:srgbClr val="EAF0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66534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 marL="82296" marR="54864" marT="27432" marB="27432" anchor="ctr">
                    <a:solidFill>
                      <a:srgbClr val="EAF0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66534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 marL="82296" marR="54864" marT="27432" marB="27432" anchor="ctr">
                    <a:solidFill>
                      <a:srgbClr val="EAF0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66534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 marL="82296" marR="54864" marT="27432" marB="27432" anchor="ctr">
                    <a:solidFill>
                      <a:srgbClr val="EAF0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B03030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marL="82296" marR="54864" marT="27432" marB="27432" anchor="ctr">
                    <a:solidFill>
                      <a:srgbClr val="EAF0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B03030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marL="82296" marR="54864" marT="27432" marB="27432" anchor="ctr">
                    <a:solidFill>
                      <a:srgbClr val="EAF0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F2937"/>
                          </a:solidFill>
                          <a:latin typeface="Segoe UI"/>
                        </a:rPr>
                        <a:t>Open &amp; close farm-sets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66534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B03030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66534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B03030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B03030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F2937"/>
                          </a:solidFill>
                          <a:latin typeface="Segoe UI"/>
                        </a:rPr>
                        <a:t>Record mill intake</a:t>
                      </a:r>
                    </a:p>
                  </a:txBody>
                  <a:tcPr marL="82296" marR="54864" marT="27432" marB="27432" anchor="ctr">
                    <a:solidFill>
                      <a:srgbClr val="EAF0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66534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 marL="82296" marR="54864" marT="27432" marB="27432" anchor="ctr">
                    <a:solidFill>
                      <a:srgbClr val="EAF0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B03030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marL="82296" marR="54864" marT="27432" marB="27432" anchor="ctr">
                    <a:solidFill>
                      <a:srgbClr val="EAF0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B03030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marL="82296" marR="54864" marT="27432" marB="27432" anchor="ctr">
                    <a:solidFill>
                      <a:srgbClr val="EAF0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66534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 marL="82296" marR="54864" marT="27432" marB="27432" anchor="ctr">
                    <a:solidFill>
                      <a:srgbClr val="EAF0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B03030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marL="82296" marR="54864" marT="27432" marB="27432" anchor="ctr">
                    <a:solidFill>
                      <a:srgbClr val="EAF0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F2937"/>
                          </a:solidFill>
                          <a:latin typeface="Segoe UI"/>
                        </a:rPr>
                        <a:t>Pack export / link shipment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66534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B03030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B03030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B03030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66534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F2937"/>
                          </a:solidFill>
                          <a:latin typeface="Segoe UI"/>
                        </a:rPr>
                        <a:t>Manage field officers</a:t>
                      </a:r>
                    </a:p>
                  </a:txBody>
                  <a:tcPr marL="82296" marR="54864" marT="27432" marB="27432" anchor="ctr">
                    <a:solidFill>
                      <a:srgbClr val="EAF0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66534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 marL="82296" marR="54864" marT="27432" marB="27432" anchor="ctr">
                    <a:solidFill>
                      <a:srgbClr val="EAF0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B03030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marL="82296" marR="54864" marT="27432" marB="27432" anchor="ctr">
                    <a:solidFill>
                      <a:srgbClr val="EAF0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B03030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marL="82296" marR="54864" marT="27432" marB="27432" anchor="ctr">
                    <a:solidFill>
                      <a:srgbClr val="EAF0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B03030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marL="82296" marR="54864" marT="27432" marB="27432" anchor="ctr">
                    <a:solidFill>
                      <a:srgbClr val="EAF0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B03030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marL="82296" marR="54864" marT="27432" marB="27432" anchor="ctr">
                    <a:solidFill>
                      <a:srgbClr val="EAF0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F2937"/>
                          </a:solidFill>
                          <a:latin typeface="Segoe UI"/>
                        </a:rPr>
                        <a:t>See all 16 regions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66534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B03030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B03030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B03030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B03030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677"/>
                </a:solidFill>
                <a:latin typeface="Segoe UI"/>
              </a:rPr>
              <a:t>TCDA Traceability Registry  ·  System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19088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0F3D2E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22960" y="2743200"/>
            <a:ext cx="1097280" cy="8229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5486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E2C48A"/>
                </a:solidFill>
                <a:latin typeface="Segoe UI"/>
              </a:rPr>
              <a:t>Section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5156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</a:rPr>
              <a:t>Every desk and page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97680"/>
            <a:ext cx="100584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E2C48A"/>
                </a:solidFill>
                <a:latin typeface="Segoe UI"/>
              </a:rPr>
              <a:t>A page-by-page walk-through: the five web desks plus the shared farmer, plot and batch pages.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0" cy="5486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C8963E"/>
                </a:solidFill>
                <a:latin typeface="Segoe UI"/>
              </a:rPr>
              <a:t>PAGE · /LOGIN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0F3D2E"/>
                </a:solidFill>
                <a:latin typeface="Segoe UI"/>
              </a:rPr>
              <a:t>Login and the desk picker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16736"/>
            <a:ext cx="11155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166534"/>
                </a:solidFill>
                <a:latin typeface="Segoe UI"/>
              </a:rPr>
              <a:t>One entry point, one branded sign-in per desk.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19656"/>
            <a:ext cx="11155680" cy="4626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/login — “Choose your desk”: five desk cards plus a Field app (PWA) card.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/login/{desk} — a branded sign-in page per desk (tcda, officer, aggregator, mill, exporter).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An account can only enter its own desk; the wrong desk is rejected with a clear message.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After sign-in, each role is redirected to its home route (dashboard, officer.home, buying.home, mill.index, dds.index).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Demo password for every seeded account is  password.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Desk emails and copy come from app/Support/Desks.php.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677"/>
                </a:solidFill>
                <a:latin typeface="Segoe UI"/>
              </a:rPr>
              <a:t>TCDA Traceability Registry  ·  System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19088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0F3D2E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0" cy="5486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C8963E"/>
                </a:solidFill>
                <a:latin typeface="Segoe UI"/>
              </a:rPr>
              <a:t>PAGE · /TCDA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0F3D2E"/>
                </a:solidFill>
                <a:latin typeface="Segoe UI"/>
              </a:rPr>
              <a:t>TCDA — National command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16736"/>
            <a:ext cx="11155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166534"/>
                </a:solidFill>
                <a:latin typeface="Segoe UI"/>
              </a:rPr>
              <a:t>The superintendent’s overview of the whole registry.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19656"/>
            <a:ext cx="11155680" cy="4626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KPI cards: farmers on register · palm/cashew split · mapped plots · lots with compliance gaps.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Recent farm-sets table: batch ID, chain, aggregator, status and compliance badge.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Link through to Review exceptions and to any batch.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Deliberately read-only: enrolment, weighing and export packing happen on other logins.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677"/>
                </a:solidFill>
                <a:latin typeface="Segoe UI"/>
              </a:rPr>
              <a:t>TCDA Traceability Registry  ·  System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19088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0F3D2E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0" cy="5486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35581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 dirty="0">
                <a:solidFill>
                  <a:srgbClr val="C8963E"/>
                </a:solidFill>
                <a:latin typeface="Segoe UI"/>
              </a:rPr>
              <a:t>PAGE · /TCDA/EXCEPTIONS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0F3D2E"/>
                </a:solidFill>
                <a:latin typeface="Segoe UI"/>
              </a:rPr>
              <a:t>TCDA — Exceptions (Supervision)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16736"/>
            <a:ext cx="11155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166534"/>
                </a:solidFill>
                <a:latin typeface="Segoe UI"/>
              </a:rPr>
              <a:t>A data-quality view for the pilot: completeness first, not a buyer dashboard.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19656"/>
            <a:ext cx="11155680" cy="4626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KPI cards: batches in view · with gaps · farmers without GPS · missing consent.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Batch quality table: batch, chain, status and number of compliance issues.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Unmapped farmers table: farmers with no GPS or polygon, grouped by chain.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Chain filter (palm / cashew) applied to the batch list.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This is where TCDA spots what field officers still need to close.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677"/>
                </a:solidFill>
                <a:latin typeface="Segoe UI"/>
              </a:rPr>
              <a:t>TCDA Traceability Registry  ·  System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19088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0F3D2E"/>
                </a:solidFill>
                <a:latin typeface="Segoe U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0" cy="5486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64144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 dirty="0">
                <a:solidFill>
                  <a:srgbClr val="C8963E"/>
                </a:solidFill>
                <a:latin typeface="Segoe UI"/>
              </a:rPr>
              <a:t>PAGE · /TCDA/OFFICERS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0F3D2E"/>
                </a:solidFill>
                <a:latin typeface="Segoe UI"/>
              </a:rPr>
              <a:t>TCDA — Officers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16736"/>
            <a:ext cx="11155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166534"/>
                </a:solidFill>
                <a:latin typeface="Segoe UI"/>
              </a:rPr>
              <a:t>Create, reassign and remove field officers.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19656"/>
            <a:ext cx="11155680" cy="4626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Add an officer: name, email, password (confirmed) and one of Ghana’s 16 regions.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Officers on the system: inline edit of name and region, plus remove.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Only TCDA can reach this page; other roles receive 403.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An officer can be signed in only on the field desk, and only for their assigned region.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677"/>
                </a:solidFill>
                <a:latin typeface="Segoe UI"/>
              </a:rPr>
              <a:t>TCDA Traceability Registry  ·  System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19088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0F3D2E"/>
                </a:solidFill>
                <a:latin typeface="Segoe U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0" cy="5486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C8963E"/>
                </a:solidFill>
                <a:latin typeface="Segoe UI"/>
              </a:rPr>
              <a:t>PAGE · /TCDA/FARMERS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0F3D2E"/>
                </a:solidFill>
                <a:latin typeface="Segoe UI"/>
              </a:rPr>
              <a:t>TCDA — National farmer roll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16736"/>
            <a:ext cx="11155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166534"/>
                </a:solidFill>
                <a:latin typeface="Segoe UI"/>
              </a:rPr>
              <a:t>Every enrolled farmer across all 16 regions.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19656"/>
            <a:ext cx="11155680" cy="4626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Search by name, public ID, community or paper card number.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Filter by chain (palm / cashew).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Table columns: ID, name, chain, location, consent and GPS status.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Pagination (20 per page) with query string preserved.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Field officers enrol; TCDA supervises and audits the roll.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677"/>
                </a:solidFill>
                <a:latin typeface="Segoe UI"/>
              </a:rPr>
              <a:t>TCDA Traceability Registry  ·  System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19088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0F3D2E"/>
                </a:solidFill>
                <a:latin typeface="Segoe U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0" cy="5486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C8963E"/>
                </a:solidFill>
                <a:latin typeface="Segoe UI"/>
              </a:rPr>
              <a:t>PAGE · /TCDA/FARM-SETS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0F3D2E"/>
                </a:solidFill>
                <a:latin typeface="Segoe UI"/>
              </a:rPr>
              <a:t>TCDA — All farm-sets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16736"/>
            <a:ext cx="11155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166534"/>
                </a:solidFill>
                <a:latin typeface="Segoe UI"/>
              </a:rPr>
              <a:t>The national batch ledger.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19656"/>
            <a:ext cx="11155680" cy="4626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Lists every batch with: batch ID, chain, aggregator, farm count, total kg, status and compliance.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Filter by chain and by status (open, closed, mill received, exported).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Opens the shared batch detail page (custody log, deliveries, compliance gaps).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Aggregators open batches; TCDA and other desks work from their own views.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677"/>
                </a:solidFill>
                <a:latin typeface="Segoe UI"/>
              </a:rPr>
              <a:t>TCDA Traceability Registry  ·  System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19088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0F3D2E"/>
                </a:solidFill>
                <a:latin typeface="Segoe U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0" cy="5486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C8963E"/>
                </a:solidFill>
                <a:latin typeface="Segoe UI"/>
              </a:rPr>
              <a:t>PAGE · /OFFICER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0F3D2E"/>
                </a:solidFill>
                <a:latin typeface="Segoe UI"/>
              </a:rPr>
              <a:t>Field officer desk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16736"/>
            <a:ext cx="11155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166534"/>
                </a:solidFill>
                <a:latin typeface="Segoe UI"/>
              </a:rPr>
              <a:t>Today’s field work, confined to one region.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19656"/>
            <a:ext cx="11155680" cy="4626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Install the field app block: instructions for Android, iPhone and Windows/Mac, with install buttons.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Enrol a farmer form: identity, region locked to the officer’s region, chain, consent, farm geofence.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Follow-up panels: farmers missing consent, and farmers missing a geofence.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My farmers table: only this region’s farmers — consent and geofence status at a glance.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This desk cannot open batches, weigh fruit or pack a shipment.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677"/>
                </a:solidFill>
                <a:latin typeface="Segoe UI"/>
              </a:rPr>
              <a:t>TCDA Traceability Registry  ·  System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19088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0F3D2E"/>
                </a:solidFill>
                <a:latin typeface="Segoe U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0" cy="5486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C8963E"/>
                </a:solidFill>
                <a:latin typeface="Segoe UI"/>
              </a:rPr>
              <a:t>PAGES · /FARMERS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0F3D2E"/>
                </a:solidFill>
                <a:latin typeface="Segoe UI"/>
              </a:rPr>
              <a:t>Enrolment, farmer profile and plots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16736"/>
            <a:ext cx="11155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166534"/>
                </a:solidFill>
                <a:latin typeface="Segoe UI"/>
              </a:rPr>
              <a:t>Identity and the farm-land geofence are saved together.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19656"/>
            <a:ext cx="11155680" cy="4626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/farmers/create — enrol form: name, phone, card no., community, district, region, chain, aggregator, consent, geofence.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5B6677"/>
                </a:solidFill>
                <a:latin typeface="Segoe UI"/>
              </a:rPr>
              <a:t>       –  The officer’s region is locked; an officer with no region is blocked until TCDA assigns one.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/farmers/{id} — farmer profile: identity summary and the farm-land geofences table.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5B6677"/>
                </a:solidFill>
                <a:latin typeface="Segoe UI"/>
              </a:rPr>
              <a:t>       –  Each plot shows centroid, fence type (polygon/point), area (ha), land status and mapped date.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5B6677"/>
                </a:solidFill>
                <a:latin typeface="Segoe UI"/>
              </a:rPr>
              <a:t>       –  Existing polygons render as a read-only map; authorised users can add another plot.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An empty map is stored as a gap, never as a mapped plot.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677"/>
                </a:solidFill>
                <a:latin typeface="Segoe UI"/>
              </a:rPr>
              <a:t>TCDA Traceability Registry  ·  System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19088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0F3D2E"/>
                </a:solidFill>
                <a:latin typeface="Segoe U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0" cy="5486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C8963E"/>
                </a:solidFill>
                <a:latin typeface="Segoe UI"/>
              </a:rPr>
              <a:t>PAGES · /BUYING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0F3D2E"/>
                </a:solidFill>
                <a:latin typeface="Segoe UI"/>
              </a:rPr>
              <a:t>Aggregator — buying-point floor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16736"/>
            <a:ext cx="11155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166534"/>
                </a:solidFill>
                <a:latin typeface="Segoe UI"/>
              </a:rPr>
              <a:t>Open a farm-set, record kg, close it for the mill.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19656"/>
            <a:ext cx="11155680" cy="4626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/buying — open farm-sets with an inline add-delivery form (farmer, kg, channel, stub) and a close button.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5B6677"/>
                </a:solidFill>
                <a:latin typeface="Segoe UI"/>
              </a:rPr>
              <a:t>       –  Also lists farm-sets already sent toward the mill, with kg and status.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/batches/create — open a farm-set: chain, aggregator, capture channel (desk/paper/mobile), notes.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/buying/farmers — “Farmers I buy from”: a directory for recording deliveries.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This desk cannot weigh trucks at the mill or issue a buyer pack.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677"/>
                </a:solidFill>
                <a:latin typeface="Segoe UI"/>
              </a:rPr>
              <a:t>TCDA Traceability Registry  ·  System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19088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0F3D2E"/>
                </a:solidFill>
                <a:latin typeface="Segoe U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0" cy="5486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62325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C8963E"/>
                </a:solidFill>
                <a:latin typeface="Segoe UI"/>
              </a:rPr>
              <a:t>PAGE · /MILL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0F3D2E"/>
                </a:solidFill>
                <a:latin typeface="Segoe UI"/>
              </a:rPr>
              <a:t>Mill — weighbridge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16736"/>
            <a:ext cx="11155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166534"/>
                </a:solidFill>
                <a:latin typeface="Segoe UI"/>
              </a:rPr>
              <a:t>Trucks at the gate: record mill kg for closed farm-sets.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19656"/>
            <a:ext cx="11155680" cy="4626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Waiting at the gate: closed farm-sets, each with the aggregator and farm-gate kg.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Stamp intake: enter weighbridge kg (the mill is fixed by the user’s organization).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5B6677"/>
                </a:solidFill>
                <a:latin typeface="Segoe UI"/>
              </a:rPr>
              <a:t>       –  Status becomes mill_received; the farm-set on the batch is unchanged (mixing is expected).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Already weighed: shows mill kg versus farm-gate kg and notes that the difference is expected.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The mill desk never enrols farmers.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677"/>
                </a:solidFill>
                <a:latin typeface="Segoe UI"/>
              </a:rPr>
              <a:t>TCDA Traceability Registry  ·  System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19088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0F3D2E"/>
                </a:solidFill>
                <a:latin typeface="Segoe U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0" cy="5486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4688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C8963E"/>
                </a:solidFill>
                <a:latin typeface="Segoe UI"/>
              </a:rPr>
              <a:t>PAGES · /EXPORT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0F3D2E"/>
                </a:solidFill>
                <a:latin typeface="Segoe UI"/>
              </a:rPr>
              <a:t>Exporter — buyer packs &amp; due diligence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16736"/>
            <a:ext cx="11155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166534"/>
                </a:solidFill>
                <a:latin typeface="Segoe UI"/>
              </a:rPr>
              <a:t>Pack the due-diligence file; gaps stay printed.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19656"/>
            <a:ext cx="11155680" cy="4626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/export — three columns: ready to link a bill of lading · already shipped · gaps (do not invent GPS).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/export/{batch} — the due-diligence pack (DDS):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5B6677"/>
                </a:solidFill>
                <a:latin typeface="Segoe UI"/>
              </a:rPr>
              <a:t>       –  Unresolved gaps printed as-is, or a note that current rules show no gaps.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5B6677"/>
                </a:solidFill>
                <a:latin typeface="Segoe UI"/>
              </a:rPr>
              <a:t>       –  Farm-set table: farmer, community, kg, plot GPS, land status, consent.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5B6677"/>
                </a:solidFill>
                <a:latin typeface="Segoe UI"/>
              </a:rPr>
              <a:t>       –  Link shipment form (bill of lading / shipment ref) → marks the lot exported.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This desk does not enrol farmers or stamp a weighbridge ticket.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677"/>
                </a:solidFill>
                <a:latin typeface="Segoe UI"/>
              </a:rPr>
              <a:t>TCDA Traceability Registry  ·  System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19088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0F3D2E"/>
                </a:solidFill>
                <a:latin typeface="Segoe U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0" cy="5486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8195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C8963E"/>
                </a:solidFill>
                <a:latin typeface="Segoe UI"/>
              </a:rPr>
              <a:t>PAGE · /BATCHES/{ID}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0F3D2E"/>
                </a:solidFill>
                <a:latin typeface="Segoe UI"/>
              </a:rPr>
              <a:t>Batch detail (shared)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16736"/>
            <a:ext cx="11155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166534"/>
                </a:solidFill>
                <a:latin typeface="Segoe UI"/>
              </a:rPr>
              <a:t>One page every desk can open, with a full custody timeline.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19656"/>
            <a:ext cx="11155680" cy="4626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Header badges: chain, status and live compliance status.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Compliance gaps panel: the exact, human-readable gap list for this lot.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Farm deliveries table: farmer, kg, paper stub, capture channel, delivered date.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Add delivery + close controls (only when open and the role may manage batches).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Custody log: append-only timeline of opened, delivery_added, closed, mill_intake, export_packed.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677"/>
                </a:solidFill>
                <a:latin typeface="Segoe UI"/>
              </a:rPr>
              <a:t>TCDA Traceability Registry  ·  System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19088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0F3D2E"/>
                </a:solidFill>
                <a:latin typeface="Segoe U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22960" y="2743200"/>
            <a:ext cx="1097280" cy="8229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5486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E2C48A"/>
                </a:solidFill>
                <a:latin typeface="Segoe UI"/>
              </a:rPr>
              <a:t>Section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5156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</a:rPr>
              <a:t>The offline field app (PWA)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97680"/>
            <a:ext cx="100584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E2C48A"/>
                </a:solidFill>
                <a:latin typeface="Segoe UI"/>
              </a:rPr>
              <a:t>An installable app for field officers that keeps working with no signal and syncs later.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0" cy="5486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8195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C8963E"/>
                </a:solidFill>
                <a:latin typeface="Segoe UI"/>
              </a:rPr>
              <a:t>PAGE · /FIELD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0F3D2E"/>
                </a:solidFill>
                <a:latin typeface="Segoe UI"/>
              </a:rPr>
              <a:t>Field app (PWA) — offline-first capture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16736"/>
            <a:ext cx="11155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166534"/>
                </a:solidFill>
                <a:latin typeface="Segoe UI"/>
              </a:rPr>
              <a:t>Installable on a phone home screen or a desktop; works without a network.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19656"/>
            <a:ext cx="11155680" cy="4626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Install flow: Android “Add to Home screen”, iPhone Share → Add to Home Screen, PC “Download for this PC”.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5B6677"/>
                </a:solidFill>
                <a:latin typeface="Segoe UI"/>
              </a:rPr>
              <a:t>       –  The page reports whether the icon was added, cancelled, or is already installed.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Five tabs: Farmers · Enrol · Map plot · Batch · Outbox.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Local storage: IndexedDB (meta, farmers, plots, batches, outbox) keeps everything on the device.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Outbox queues each action; Sync pushes pending work and pulls registry changes.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Handover guard: an officer cannot sign out (or another officer sign in) while unsynced work is parked.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677"/>
                </a:solidFill>
                <a:latin typeface="Segoe UI"/>
              </a:rPr>
              <a:t>TCDA Traceability Registry  ·  System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19088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0F3D2E"/>
                </a:solidFill>
                <a:latin typeface="Segoe U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0" cy="5486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7889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 dirty="0">
                <a:solidFill>
                  <a:srgbClr val="C8963E"/>
                </a:solidFill>
                <a:latin typeface="Segoe UI"/>
              </a:rPr>
              <a:t>COMPONENT · FARM-GEOFENCE.JS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0F3D2E"/>
                </a:solidFill>
                <a:latin typeface="Segoe UI"/>
              </a:rPr>
              <a:t>Farm geofence drawing tool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16736"/>
            <a:ext cx="11155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166534"/>
                </a:solidFill>
                <a:latin typeface="Segoe UI"/>
              </a:rPr>
              <a:t>A Leaflet map locked to Ghana, used on both the field app and the desks.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19656"/>
            <a:ext cx="11155680" cy="4626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Draw the farm boundary two ways: walk to each corner (GPS) or tap the map.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Undo the last corner or clear the fence; at least three corners are needed to close it.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Live centroid and area (hectares) use the polygon shoelace formula with latitude correction.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The map is bounded to Ghana; corners outside the country are rejected.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Output is a GeoJSON polygon submitted with the form.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The server re-validates every fence: ≥3 corners, valid lat/lng, and inside Ghana’s bounding box.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677"/>
                </a:solidFill>
                <a:latin typeface="Segoe UI"/>
              </a:rPr>
              <a:t>TCDA Traceability Registry  ·  System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19088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0F3D2E"/>
                </a:solidFill>
                <a:latin typeface="Segoe U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0" cy="5486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4688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C8963E"/>
                </a:solidFill>
                <a:latin typeface="Segoe UI"/>
              </a:rPr>
              <a:t>ROUTES/API.PHP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0F3D2E"/>
                </a:solidFill>
                <a:latin typeface="Segoe UI"/>
              </a:rPr>
              <a:t>API and the sync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16736"/>
            <a:ext cx="11155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166534"/>
                </a:solidFill>
                <a:latin typeface="Segoe UI"/>
              </a:rPr>
              <a:t>Store-and-forward sync with idempotent, ordered operations.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19656"/>
            <a:ext cx="11155680" cy="4626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POST /api/auth/login — sign in a field device; issues a bearer device token (hashed SHA-256).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POST /api/auth/logout — revoke the current device token.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POST /api/sync/push — upload queued operations; returns accepted + rejected lists.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GET /api/sync/pull — download farmers, plots and batches changed since a cursor (device scoped).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Operation types: farmer.upsert, plot.upsert, batch.open, batch.delivery, batch.close.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Each operation carries an op_id (UUID) and client_uuid; duplicates are accepted, not repeated.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Failures are recorded with a reason and shown back in the field app’s Outbox tab.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677"/>
                </a:solidFill>
                <a:latin typeface="Segoe UI"/>
              </a:rPr>
              <a:t>TCDA Traceability Registry  ·  System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19088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0F3D2E"/>
                </a:solidFill>
                <a:latin typeface="Segoe U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0" cy="5486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37744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C8963E"/>
                </a:solidFill>
                <a:latin typeface="Segoe UI"/>
              </a:rPr>
              <a:t>CROSS-CUTTING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0F3D2E"/>
                </a:solidFill>
                <a:latin typeface="Segoe UI"/>
              </a:rPr>
              <a:t>Security and data integrity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16736"/>
            <a:ext cx="11155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166534"/>
                </a:solidFill>
                <a:latin typeface="Segoe UI"/>
              </a:rPr>
              <a:t>Access control, validation and an audit trail at every layer.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19656"/>
            <a:ext cx="11155680" cy="4626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Desks: Laravel session authentication plus role middleware on every route group.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Field app: hashed device tokens (SHA-256), bearer auth, one token per user+device.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Region scoping on reads and writes (visibleTo, canAccessRegion, canHandleFarmer).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Server-side geofence validation and Ghana boundary checks.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Human-friendly public IDs generated per table: FRM-, PLT-, BAT-, ORG-.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Auditability: CustodyEvent timeline plus SyncOperation records (who, what, when).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677"/>
                </a:solidFill>
                <a:latin typeface="Segoe UI"/>
              </a:rPr>
              <a:t>TCDA Traceability Registry  ·  System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19088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0F3D2E"/>
                </a:solidFill>
                <a:latin typeface="Segoe U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22960" y="2743200"/>
            <a:ext cx="1097280" cy="8229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5486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E2C48A"/>
                </a:solidFill>
                <a:latin typeface="Segoe UI"/>
              </a:rPr>
              <a:t>Section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5156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</a:rPr>
              <a:t>How to run the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97680"/>
            <a:ext cx="100584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E2C48A"/>
                </a:solidFill>
                <a:latin typeface="Segoe UI"/>
              </a:rPr>
              <a:t>From a clean checkout to a seeded, running system — plus the demo logins and the test suite.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0" cy="5486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48363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C8963E"/>
                </a:solidFill>
                <a:latin typeface="Segoe UI"/>
              </a:rPr>
              <a:t>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0F3D2E"/>
                </a:solidFill>
                <a:latin typeface="Segoe UI"/>
              </a:rPr>
              <a:t>Prerequisites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16736"/>
            <a:ext cx="11155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166534"/>
                </a:solidFill>
                <a:latin typeface="Segoe UI"/>
              </a:rPr>
              <a:t>A standard Laravel stack. XAMPP on Windows works out of the box.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19656"/>
            <a:ext cx="11155680" cy="4626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PHP 8.2 or newer (with the usual extensions: pdo_mysql, mbstring, openssl, ...).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Composer (PHP dependencies).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MySQL — the project’s .env.example expects a MySQL database named tcda_trace.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Node.js + npm — optional, only if you want to rebuild front-end assets with Vite/Tailwind.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The project folder sits at  xampp/htdocs/farm  in this environment.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The desk UI loads its CSS/JS straight from public/, so the app runs without a Node build step.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677"/>
                </a:solidFill>
                <a:latin typeface="Segoe UI"/>
              </a:rPr>
              <a:t>TCDA Traceability Registry  ·  System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19088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0F3D2E"/>
                </a:solidFill>
                <a:latin typeface="Segoe UI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0" cy="5486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37744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C8963E"/>
                </a:solidFill>
                <a:latin typeface="Segoe UI"/>
              </a:rPr>
              <a:t>STEP BY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0F3D2E"/>
                </a:solidFill>
                <a:latin typeface="Segoe UI"/>
              </a:rPr>
              <a:t>Install and set up the database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16736"/>
            <a:ext cx="11155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166534"/>
                </a:solidFill>
                <a:latin typeface="Segoe UI"/>
              </a:rPr>
              <a:t>Run these from the project root.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19656"/>
            <a:ext cx="11155680" cy="4626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composer install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copy .env.example .env        (then)   php artisan key:generate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Create the MySQL database tcda_trace (or edit DB_* in .env).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php artisan migrate --seed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Optional asset build:   npm install   &amp;&amp;   npm run build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Shortcut:  composer setup  (runs install, .env copy, key:generate, migrate, npm install, npm run build).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Seeding loads demo organizations, users, farmers, plots and three sample batches.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677"/>
                </a:solidFill>
                <a:latin typeface="Segoe UI"/>
              </a:rPr>
              <a:t>TCDA Traceability Registry  ·  System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19088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0F3D2E"/>
                </a:solidFill>
                <a:latin typeface="Segoe UI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0" cy="5486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16113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C8963E"/>
                </a:solidFill>
                <a:latin typeface="Segoe UI"/>
              </a:rPr>
              <a:t>SERVING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0F3D2E"/>
                </a:solidFill>
                <a:latin typeface="Segoe UI"/>
              </a:rPr>
              <a:t>Run the 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16736"/>
            <a:ext cx="11155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166534"/>
                </a:solidFill>
                <a:latin typeface="Segoe UI"/>
              </a:rPr>
              <a:t>Pick whichever fits your setup; both serve the same app.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19656"/>
            <a:ext cx="11155680" cy="4626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Quick option:   php artisan serve   →   http://127.0.0.1:8000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XAMPP option:   open   http://localhost/farm   (the project lives under htdocs).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Two entry points:   desk app at   /login       ·       field app at   /field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Root URL / redirects to login, or straight to the signed-in user’s home desk.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Composer shortcut for development:   composer dev   (serve + queue + logs + vite together).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Field app install needs HTTPS or localhost to be installable (a browser secure-context rule).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677"/>
                </a:solidFill>
                <a:latin typeface="Segoe UI"/>
              </a:rPr>
              <a:t>TCDA Traceability Registry  ·  System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19088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0F3D2E"/>
                </a:solidFill>
                <a:latin typeface="Segoe UI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0" cy="5486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75795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C8963E"/>
                </a:solidFill>
                <a:latin typeface="Segoe UI"/>
              </a:rPr>
              <a:t>SIGN 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0F3D2E"/>
                </a:solidFill>
                <a:latin typeface="Segoe UI"/>
              </a:rPr>
              <a:t>Demo accounts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11155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166534"/>
                </a:solidFill>
                <a:latin typeface="Segoe UI"/>
              </a:rPr>
              <a:t>Every seeded account uses the password:  password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810512"/>
          <a:ext cx="11183111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3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277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30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Email</a:t>
                      </a:r>
                    </a:p>
                  </a:txBody>
                  <a:tcPr marL="82296" marR="54864" marT="27432" marB="27432" anchor="ctr">
                    <a:solidFill>
                      <a:srgbClr val="0F3D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Role / desk</a:t>
                      </a:r>
                    </a:p>
                  </a:txBody>
                  <a:tcPr marL="82296" marR="54864" marT="27432" marB="27432" anchor="ctr">
                    <a:solidFill>
                      <a:srgbClr val="0F3D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Region</a:t>
                      </a:r>
                    </a:p>
                  </a:txBody>
                  <a:tcPr marL="82296" marR="54864" marT="27432" marB="27432" anchor="ctr">
                    <a:solidFill>
                      <a:srgbClr val="0F3D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F2937"/>
                          </a:solidFill>
                          <a:latin typeface="Segoe UI"/>
                        </a:rPr>
                        <a:t>tcda@tcda.gov.gh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Segoe UI"/>
                        </a:rPr>
                        <a:t>TCDA — National command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Segoe UI"/>
                        </a:rPr>
                        <a:t>All 16 regions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F2937"/>
                          </a:solidFill>
                          <a:latin typeface="Segoe UI"/>
                        </a:rPr>
                        <a:t>officer@tcda.gov.gh</a:t>
                      </a:r>
                    </a:p>
                  </a:txBody>
                  <a:tcPr marL="82296" marR="54864" marT="27432" marB="27432" anchor="ctr">
                    <a:solidFill>
                      <a:srgbClr val="EAF0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Segoe UI"/>
                        </a:rPr>
                        <a:t>Field officer — Field desk</a:t>
                      </a:r>
                    </a:p>
                  </a:txBody>
                  <a:tcPr marL="82296" marR="54864" marT="27432" marB="27432" anchor="ctr">
                    <a:solidFill>
                      <a:srgbClr val="EAF0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Segoe UI"/>
                        </a:rPr>
                        <a:t>Western</a:t>
                      </a:r>
                    </a:p>
                  </a:txBody>
                  <a:tcPr marL="82296" marR="54864" marT="27432" marB="27432" anchor="ctr">
                    <a:solidFill>
                      <a:srgbClr val="EAF0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F2937"/>
                          </a:solidFill>
                          <a:latin typeface="Segoe UI"/>
                        </a:rPr>
                        <a:t>officer.bono@tcda.gov.gh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Segoe UI"/>
                        </a:rPr>
                        <a:t>Field officer — Field desk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Segoe UI"/>
                        </a:rPr>
                        <a:t>Bono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F2937"/>
                          </a:solidFill>
                          <a:latin typeface="Segoe UI"/>
                        </a:rPr>
                        <a:t>agg@western.palm.gh</a:t>
                      </a:r>
                    </a:p>
                  </a:txBody>
                  <a:tcPr marL="82296" marR="54864" marT="27432" marB="27432" anchor="ctr">
                    <a:solidFill>
                      <a:srgbClr val="EAF0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Segoe UI"/>
                        </a:rPr>
                        <a:t>Aggregator — Buying-point floor</a:t>
                      </a:r>
                    </a:p>
                  </a:txBody>
                  <a:tcPr marL="82296" marR="54864" marT="27432" marB="27432" anchor="ctr">
                    <a:solidFill>
                      <a:srgbClr val="EAF0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Segoe UI"/>
                        </a:rPr>
                        <a:t>Western</a:t>
                      </a:r>
                    </a:p>
                  </a:txBody>
                  <a:tcPr marL="82296" marR="54864" marT="27432" marB="27432" anchor="ctr">
                    <a:solidFill>
                      <a:srgbClr val="EAF0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F2937"/>
                          </a:solidFill>
                          <a:latin typeface="Segoe UI"/>
                        </a:rPr>
                        <a:t>mill@benso.palm.gh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Segoe UI"/>
                        </a:rPr>
                        <a:t>Mill — Weighbridge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Segoe UI"/>
                        </a:rPr>
                        <a:t>Western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F2937"/>
                          </a:solidFill>
                          <a:latin typeface="Segoe UI"/>
                        </a:rPr>
                        <a:t>export@nutex.gh</a:t>
                      </a:r>
                    </a:p>
                  </a:txBody>
                  <a:tcPr marL="82296" marR="54864" marT="27432" marB="27432" anchor="ctr">
                    <a:solidFill>
                      <a:srgbClr val="EAF0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Segoe UI"/>
                        </a:rPr>
                        <a:t>Exporter — Buyer packs</a:t>
                      </a:r>
                    </a:p>
                  </a:txBody>
                  <a:tcPr marL="82296" marR="54864" marT="27432" marB="27432" anchor="ctr">
                    <a:solidFill>
                      <a:srgbClr val="EAF0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82296" marR="54864" marT="27432" marB="27432" anchor="ctr">
                    <a:solidFill>
                      <a:srgbClr val="EAF0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677"/>
                </a:solidFill>
                <a:latin typeface="Segoe UI"/>
              </a:rPr>
              <a:t>TCDA Traceability Registry  ·  System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19088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0F3D2E"/>
                </a:solidFill>
                <a:latin typeface="Segoe UI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0" cy="5486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37744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C8963E"/>
                </a:solidFill>
                <a:latin typeface="Segoe UI"/>
              </a:rPr>
              <a:t>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0F3D2E"/>
                </a:solidFill>
                <a:latin typeface="Segoe UI"/>
              </a:rPr>
              <a:t>Testing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16736"/>
            <a:ext cx="11155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166534"/>
                </a:solidFill>
                <a:latin typeface="Segoe UI"/>
              </a:rPr>
              <a:t>Run the whole suite with:   php artisan test   (or composer test).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19656"/>
            <a:ext cx="11155680" cy="4626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ComplianceEngineTest — palm lots missing GPS are flagged; fully mapped, consented farmers pass.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DeviceAuthTest — field officers sign in/out with device tokens; mills &amp; TCDA are blocked from the app.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EnrolmentGeofenceTest — enrolment requires a valid polygon; out-of-Ghana fences are rejected.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FieldPwaTest — the field page exposes PWA markup, install UI and the required icon files.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OfficerManagementTest — TCDA creates, reassigns and removes officers; others are blocked.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RegionalAccessTest — officers cannot see or enrol outside their region; TCDA sees all.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RolePagesTest — each role lands on the right desk and cannot open another role’s pages.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SyncApiTest — idempotent push, duplicate handling, rejections, token auth and pull cursors.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677"/>
                </a:solidFill>
                <a:latin typeface="Segoe UI"/>
              </a:rPr>
              <a:t>TCDA Traceability Registry  ·  System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19088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0F3D2E"/>
                </a:solidFill>
                <a:latin typeface="Segoe UI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0" cy="5486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11277" y="29260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C8963E"/>
                </a:solidFill>
                <a:latin typeface="Segoe UI"/>
              </a:rPr>
              <a:t>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0F3D2E"/>
                </a:solidFill>
                <a:latin typeface="Segoe UI"/>
              </a:rPr>
              <a:t>Technology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16736"/>
            <a:ext cx="11155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166534"/>
                </a:solidFill>
                <a:latin typeface="Segoe UI"/>
              </a:rPr>
              <a:t>Deliberately small, standard and easy to host.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19656"/>
            <a:ext cx="11155680" cy="4626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Backend: Laravel 12 on PHP 8.2+ (Eloquent, migrations, middleware, form validation).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Database: MySQL (configurable; the .env.example targets tcda_trace).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Desk UI: Blade templates with hand-written, dependency-light CSS served from public/.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Front-end tooling: Vite + Tailwind CSS available for asset builds (optional).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Field app: vanilla JavaScript PWA with IndexedDB, a service worker and Leaflet maps.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Testing: PHPUnit 11 via Laravel’s test runner.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No external API key is required for the core geofence workflow.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677"/>
                </a:solidFill>
                <a:latin typeface="Segoe UI"/>
              </a:rPr>
              <a:t>TCDA Traceability Registry  ·  System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19088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0F3D2E"/>
                </a:solidFill>
                <a:latin typeface="Segoe UI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0" cy="5486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48363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 dirty="0">
                <a:solidFill>
                  <a:srgbClr val="C8963E"/>
                </a:solidFill>
                <a:latin typeface="Segoe UI"/>
              </a:rPr>
              <a:t>PRINCIPLES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0F3D2E"/>
                </a:solidFill>
                <a:latin typeface="Segoe UI"/>
              </a:rPr>
              <a:t>Design principles and notes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16736"/>
            <a:ext cx="11155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166534"/>
                </a:solidFill>
                <a:latin typeface="Segoe UI"/>
              </a:rPr>
              <a:t>The decisions that shape how the system behaves.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19656"/>
            <a:ext cx="11155680" cy="4626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Honesty over tidiness: gaps stay printed; nothing is auto-filled or invented.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One registry, many desks: strict role separation, no shared “super user” page.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Region is a hard boundary, not a filter — enforced on reads and writes.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Offline-first field capture with idempotent store-and-forward sync.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The mill records weight but never rewrites the farm-set; mixing stays visible.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Everything important is timestamped and attributable (custody events + sync operations).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Only TCDA can create or reassign officers; only an officer’s assigned region is reachable.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677"/>
                </a:solidFill>
                <a:latin typeface="Segoe UI"/>
              </a:rPr>
              <a:t>TCDA Traceability Registry  ·  System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19088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0F3D2E"/>
                </a:solidFill>
                <a:latin typeface="Segoe UI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22960" y="2148840"/>
            <a:ext cx="1097280" cy="8229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515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Segoe UI"/>
              </a:rPr>
              <a:t>One registry. Five desks. One honest chain of custody.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657600"/>
            <a:ext cx="1051560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E2C48A"/>
                </a:solidFill>
                <a:latin typeface="Segoe UI"/>
              </a:rPr>
              <a:t>Farmers enrolled in the field, deliveries captured at the buying point,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</a:pPr>
            <a:r>
              <a:rPr sz="1600" b="0" i="0">
                <a:solidFill>
                  <a:srgbClr val="E2C48A"/>
                </a:solidFill>
                <a:latin typeface="Segoe UI"/>
              </a:rPr>
              <a:t>weight stamped at the mill, and due-diligence packs packed for buyers —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</a:pPr>
            <a:r>
              <a:rPr sz="1600" b="0" i="0">
                <a:solidFill>
                  <a:srgbClr val="E2C48A"/>
                </a:solidFill>
                <a:latin typeface="Segoe UI"/>
              </a:rPr>
              <a:t>with every gap kept visible rather than hidden.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C8963E"/>
                </a:solidFill>
                <a:latin typeface="Segoe UI"/>
              </a:rPr>
              <a:t>TCDA Traceability Registry  ·  Laravel 12  ·  Ghana palm &amp; cashew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4428</Words>
  <Application>Microsoft Office PowerPoint</Application>
  <PresentationFormat>Widescreen</PresentationFormat>
  <Paragraphs>462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2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Percy Mawufemor Galley</cp:lastModifiedBy>
  <cp:revision>2</cp:revision>
  <dcterms:created xsi:type="dcterms:W3CDTF">2013-01-27T09:14:16Z</dcterms:created>
  <dcterms:modified xsi:type="dcterms:W3CDTF">2026-10-23T17:04:25Z</dcterms:modified>
  <cp:category/>
</cp:coreProperties>
</file>